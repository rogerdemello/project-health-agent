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Risk Score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Sheet1!$A$2:$A$3</c:f>
              <c:strCache>
                <c:ptCount val="2"/>
                <c:pt idx="0">
                  <c:v>Zycus - UniSan S2P I</c:v>
                </c:pt>
                <c:pt idx="1">
                  <c:v>Zycus - Titan S2P Im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75.8</c:v>
                </c:pt>
                <c:pt idx="1">
                  <c:v>48.3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Project Health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DC3C7"/>
                </a:solidFill>
              </a:defRPr>
            </a:pPr>
            <a:r>
              <a:t>Monthly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5A5A6"/>
                </a:solidFill>
              </a:defRPr>
            </a:pPr>
            <a:r>
              <a:t>Professional Services - AI Agent Generated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5A5A6"/>
                </a:solidFill>
              </a:defRPr>
            </a:pPr>
            <a:r>
              <a:t>Reporting Period: 2026-07-08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Portfolio health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</a:defRPr>
            </a:pPr>
            <a:r>
              <a:t>Zycus - UniSan S2P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280160"/>
            <a:ext cx="548640" cy="19202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280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</a:defRPr>
            </a:pPr>
            <a:r>
              <a:t>76/100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280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</a:defRPr>
            </a:pPr>
            <a:r>
              <a:t>Score: 76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65960"/>
            <a:ext cx="8229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7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</a:defRPr>
            </a:pPr>
            <a:r>
              <a:t>Zycus - Titan S2P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057400"/>
            <a:ext cx="548640" cy="19202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057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</a:defRPr>
            </a:pPr>
            <a:r>
              <a:t>48/100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</a:defRPr>
            </a:pPr>
            <a:r>
              <a:t>Score: 48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</a:defRPr>
            </a:pPr>
            <a:r>
              <a:t>Portfolio: 0 Green, 1 Amber, 1 Red. Immediate attention required on at-risk projects.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Portfolio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Current scores and trends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88720"/>
          <a:ext cx="50292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0" y="1280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</a:defRPr>
            </a:pPr>
            <a:r>
              <a:t>Zycus - UniSan S2P Implem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39C12"/>
                </a:solidFill>
              </a:defRPr>
            </a:pPr>
            <a:r>
              <a:t>Score: 76  (~) (+0.0)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280160"/>
            <a:ext cx="457200" cy="1600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9202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</a:defRPr>
            </a:pPr>
            <a:r>
              <a:t>Zycus - Titan S2P Impleme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945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39C12"/>
                </a:solidFill>
              </a:defRPr>
            </a:pPr>
            <a:r>
              <a:t>Score: 48  (~) (+0.0)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920239"/>
            <a:ext cx="457200" cy="1600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Top Risks &amp; Emerging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Cross-project risk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</a:defRPr>
            </a:pPr>
            <a:r>
              <a:t>Top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</a:defRPr>
            </a:pPr>
            <a:r>
              <a:t>Emerging Themes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591056"/>
            <a:ext cx="91440" cy="914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4A"/>
                </a:solidFill>
              </a:defRPr>
            </a:pPr>
            <a:r>
              <a:t>[Zycus - UniSan S2P I] Milestones (44/100): Overall project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4A"/>
                </a:solidFill>
              </a:defRPr>
            </a:pPr>
            <a:r>
              <a:t>Schedule pressure is the dominant risk across implementations.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956816"/>
            <a:ext cx="91440" cy="914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4A"/>
                </a:solidFill>
              </a:defRPr>
            </a:pPr>
            <a:r>
              <a:t>[Zycus - UniSan S2P I] Sentiment (50/100): No stakeholder 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4A"/>
                </a:solidFill>
              </a:defRPr>
            </a:pPr>
            <a:r>
              <a:t>Milestone overruns cluster in the final phases of delivery.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22576"/>
            <a:ext cx="91440" cy="9144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4A"/>
                </a:solidFill>
              </a:defRPr>
            </a:pPr>
            <a:r>
              <a:t>[Zycus - Titan S2P Im] Critical Tasks (20/100): 15 critical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4A"/>
                </a:solidFill>
              </a:defRPr>
            </a:pPr>
            <a:r>
              <a:t>Stakeholder comment volume correlates with project health decline.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2688336"/>
            <a:ext cx="91440" cy="9144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4A"/>
                </a:solidFill>
              </a:defRPr>
            </a:pPr>
            <a:r>
              <a:t>[Zycus - Titan S2P Im] Variance (0/100): Average variance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4A"/>
                </a:solidFill>
              </a:defRPr>
            </a:pPr>
            <a:r>
              <a:t>Resource contention emerges where projects share specialist pools.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Executive-level action 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C1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3533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</a:defRPr>
            </a:pPr>
            <a:r>
              <a:t>Prioritize critical-path recovery for Red-rated projects.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4767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C1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9476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</a:defRPr>
            </a:pPr>
            <a:r>
              <a:t>Establish weekly milestone tracking with automated alerts.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79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C1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542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</a:defRPr>
            </a:pPr>
            <a:r>
              <a:t>Conduct cross-project resource review to resolve specialist contention.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39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136391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C1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136391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</a:defRPr>
            </a:pPr>
            <a:r>
              <a:t>Implement standardized stakeholder check-ins across all projects.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599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30751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C1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730751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</a:defRPr>
            </a:pPr>
            <a:r>
              <a:t>Deploy variance early-warning system (threshold: -5 days).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Project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Detailed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1887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1887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188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188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Milestones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Critical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188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Variance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1704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17043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17043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1704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Schedule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1704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Milestones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1704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1704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Variance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554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Zycus - UniSan S2P Implementat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15544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Amber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15544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554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554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Zycus - Titan S2P Implementati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1828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1828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1828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0" y="1828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828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1828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B2A4A"/>
                </a:solidFill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237743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F8C8D"/>
                </a:solidFill>
              </a:defRPr>
            </a:pPr>
            <a:r>
              <a:t>Auto-generated by Project Health AI 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